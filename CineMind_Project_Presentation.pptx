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6366F1"/>
                </a:solidFill>
              </a:defRPr>
            </a:pPr>
            <a:r>
              <a:t>🎬 CINEMIND</a:t>
            </a:r>
          </a:p>
          <a:p>
            <a:pPr>
              <a:spcBef>
                <a:spcPts val="800"/>
              </a:spcBef>
              <a:defRPr sz="2200" b="1">
                <a:solidFill>
                  <a:srgbClr val="F8FAFC"/>
                </a:solidFill>
              </a:defRPr>
            </a:pPr>
            <a:r>
              <a:t>Personalised Movie Recommendation &amp; Decision Intelligence Platform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An evidence-based movie platform featuring Bayesian rating trust analysis, regional Indian cinema discovery (Telugu, Tamil, Malayalam, Kannada, Hindi), personal Taste DNA vectors, and AI conversational search.</a:t>
            </a:r>
          </a:p>
          <a:p>
            <a:pPr>
              <a:spcBef>
                <a:spcPts val="2400"/>
              </a:spcBef>
              <a:defRPr sz="1500" b="1">
                <a:solidFill>
                  <a:srgbClr val="F59E0B"/>
                </a:solidFill>
              </a:defRPr>
            </a:pPr>
            <a:r>
              <a:t>Designed &amp; Implemented by: Navaneeth</a:t>
            </a:r>
          </a:p>
          <a:p>
            <a:pPr>
              <a:spcBef>
                <a:spcPts val="600"/>
              </a:spcBef>
              <a:defRPr sz="1200">
                <a:solidFill>
                  <a:srgbClr val="818CF8"/>
                </a:solidFill>
              </a:defRPr>
            </a:pPr>
            <a:r>
              <a:t>Technology Stack: React 19 • Python 3 (Flask REST API) • MySQL 8.0 • Tailwind CSS • Bcrypt • PyJWT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PROJECT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Statement &amp; 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The Core Problems in Modern Movie Discovery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Rating Bias &amp; Fake Hype: Obscure films with a single 5-star review artificially top charts; popular films suffer from review-bombing.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Regional Cinema Neglect: Rich South Asian industries (Telugu, Tamil, Malayalam, Kannada) are buried under generic global algorithms.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Lack of Explainability: Mainstream platforms act as black boxes with zero transparency into WHY a movie was recommended.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Social Decision Paralysis: Groups and families waste 30-45 minutes arguing over what to watch due to taste misalignment.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The CineMind Solution &amp; Approach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Bayesian Evidence Scoring: Mathematically smooths raw ratings against a verified MovieLens prior benchmark (C = 3.65★, m = 25).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1-Click Multi-Language Discovery: Native first-class filters for Telugu, Tamil, Malayalam, Kannada, Hindi, and English cinema.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Transparent Taste DNA: Mathematical affinity vectors calculated from user ratings to show precise % match and confidence bounds.</a:t>
            </a:r>
          </a:p>
          <a:p>
            <a:pPr>
              <a:spcBef>
                <a:spcPts val="1200"/>
              </a:spcBef>
              <a:defRPr sz="1200">
                <a:solidFill>
                  <a:srgbClr val="F8FAFC"/>
                </a:solidFill>
              </a:defRPr>
            </a:pPr>
            <a:r>
              <a:t>• Social Watch Decision Rooms: Egalitarian consensus algorithms that minimize misery so every participant enjoys the movie.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SYSTEM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Three-Tier Enterprise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4290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1. Presentation Tier</a:t>
            </a:r>
          </a:p>
          <a:p>
            <a:pPr>
              <a:spcBef>
                <a:spcPts val="400"/>
              </a:spcBef>
              <a:defRPr sz="1100" b="1">
                <a:solidFill>
                  <a:srgbClr val="6366F1"/>
                </a:solidFill>
              </a:defRPr>
            </a:pPr>
            <a:r>
              <a:t>React 19 + Tailwind CSS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Single Page Application (SPA) architecture.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Responsive UI with custom Dark Slate palette.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Instant 1-click language filter bar &amp; search autocomplete.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Visual analytics rendered with Chart.js.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Lucide modern vector icons &amp; micro-interactions.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290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2. Application Tier</a:t>
            </a:r>
          </a:p>
          <a:p>
            <a:pPr>
              <a:spcBef>
                <a:spcPts val="400"/>
              </a:spcBef>
              <a:defRPr sz="1100" b="1">
                <a:solidFill>
                  <a:srgbClr val="F59E0B"/>
                </a:solidFill>
              </a:defRPr>
            </a:pPr>
            <a:r>
              <a:t>Python 3 + Flask REST API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9 Modular Blueprints (auth, movies, taste_dna, compare, etc.).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Bayesian Rating Shrinkage mathematical engine.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Natural Language Processing entity parser for Assistant.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PyJWT token generation &amp; stateless authentication.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Bcrypt salted password hashing security.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4290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8FAFC"/>
                </a:solidFill>
              </a:defRPr>
            </a:pPr>
            <a:r>
              <a:t>3. Data Tier</a:t>
            </a:r>
          </a:p>
          <a:p>
            <a:pPr>
              <a:spcBef>
                <a:spcPts val="400"/>
              </a:spcBef>
              <a:defRPr sz="1100" b="1">
                <a:solidFill>
                  <a:srgbClr val="06B6D4"/>
                </a:solidFill>
              </a:defRPr>
            </a:pPr>
            <a:r>
              <a:t>MySQL 8.0 Server (Port 3306)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Relational schema with 12 normalized tables.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25 Benchmark films with verified TMDB posters.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1,890 Authentic rating records &amp; user accounts.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SQLAlchemy ORM + PyMySQL driver with connection pooling.</a:t>
            </a:r>
          </a:p>
          <a:p>
            <a:pPr>
              <a:spcBef>
                <a:spcPts val="800"/>
              </a:spcBef>
              <a:defRPr sz="1100">
                <a:solidFill>
                  <a:srgbClr val="94A3B8"/>
                </a:solidFill>
              </a:defRPr>
            </a:pPr>
            <a:r>
              <a:t>• Foreign key constraints with CASCADE rules.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IDENTITY &amp; ACCESS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Security &amp; User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Authentication Capabilities: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Dual Mode Modal: Single streamlined interface supporting both registration and sign-in with full validation.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Bcrypt Password Security: Passwords hashed with secure 12-round salt before saving in MySQL. Plaintext passwords never stored.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Stateless JWT Tokens: Returns encrypted PyJWT bearer token upon login, ensuring fast stateless REST requests.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Role-Based Access: Supports 'Viewer' and 'Admin' privileges (Admin can add movies and refresh ratings).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Quick-Fill Test Buttons: 1-click test accounts (Demo Viewer &amp; Admin) for fast, seamless teacher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486400" cy="475488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auth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2284285"/>
            <a:ext cx="5266944" cy="25820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53328" y="5779008"/>
            <a:ext cx="5266944" cy="347472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📷 Live CineMind Registration &amp; Sign-In Dialog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CORE FEATURE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1: Movie Discovery Dashboard &amp; Regional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Discovery Engine Features: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1-Click Language Buttons: Instant filter chips for All Cinema, Telugu, Tamil, Malayalam, Kannada, Hindi, and English.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Recommended Movies Carousel: Dynamic horizontal spotlight highlighting benchmark regional masterpieces (Drishyam, Parasite, RRR, Dangal, Charlie 777).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Real-Time Search Bar: Sub-millisecond title and director fuzzy matching directly querying MySQL index.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Verified TMDB Posters: Clean, cinematic artwork cards displaying verified release years and regional origins.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486400" cy="475488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discover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2292001"/>
            <a:ext cx="5266944" cy="256660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53328" y="5779008"/>
            <a:ext cx="5266944" cy="347472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📷 Discover Page Hero: Language Bar &amp; Carousel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CATALOGUE EXPLORATION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2: Movie Catalogue Grid &amp; Sorting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Catalogue Controls &amp; Cards: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Multi-Metric Sorting Dropdown: Sort films by Bayesian Evidence Score, General Rating Mean, Most Reviewed Count, Release Year, or A-Z.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Interactive Sliders: Filter films using Min Star Rating slider (1.0★ to 5.0★) and Max Runtime limit slider.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Rich Movie Cards: Highlights language badges, genre tags, exact runtime, Bayesian star rating, and review counts.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'Movie Details' Action: 1-click modal revealing full mathematical formulas, director credits, overview, and cast info.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486400" cy="475488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catalogue_fil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2315146"/>
            <a:ext cx="5266944" cy="25203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53328" y="5779008"/>
            <a:ext cx="5266944" cy="347472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📷 Catalogue Filters with Bayesian Sort Dropdown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MATHEMATICAL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3: Rating Trust Analyzer (Bayesian Model)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Mathematical Formulation:</a:t>
            </a:r>
          </a:p>
          <a:p>
            <a:pPr>
              <a:spcBef>
                <a:spcPts val="1200"/>
              </a:spcBef>
              <a:defRPr sz="2200" b="1">
                <a:solidFill>
                  <a:srgbClr val="818CF8"/>
                </a:solidFill>
              </a:defRPr>
            </a:pPr>
            <a:r>
              <a:t>S = (v • R + m • C) / (v + m)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v = Recorded user review sample count for the film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R = Raw average rating from viewers (1.0★ to 5.0★)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m = Prior confidence weight constant (m = 25 reviews)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C = Global benchmark mean (C = 3.65★ from MovieLens)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95% Confidence Interval: ±1.96 • (σ / √v)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366F1"/>
                </a:solidFill>
              </a:defRPr>
            </a:pPr>
            <a:r>
              <a:t>Why This Eliminates Rating Distortion: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1. Solves the 1-Review Flaw: A new film with a single 5.0★ review will NOT top the recommendations; its score shrinks mathematically toward prior C (3.70★).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2. Evidence Certainty: Blockbusters with large review samples (e.g. RRR with 85 reviews, Kantara with 65 reviews) retain high certainty (4.69★).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3. Confidence Tiers: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    • High Evidence (v ≥ 50 reviews) — Narrow error margin (±0.08★)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    • Moderate Evidence (20 ≤ v &lt; 50 reviews) — Standard confidence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    • Limited Evidence (v &lt; 20 reviews) — Broad error margin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4. 100% Transparent: Students and teachers can view exact math in the 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DECISION SUPPORT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4: Head-to-Head Film Comparison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Comparative Analytics: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Side-by-Side Showdown: Directly compares any two movies (e.g. Telugu 'RRR' vs Tamil 'Vikram').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Empirical Metrics: Compares Bayesian weighted rating, raw review count, runtime, and genre overlap.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95% Confidence Bands: Graphically displays uncertainty intervals to identify which rating is mathematically more trustworthy.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Personal Compatibility: Cross-references logged-in user's Taste DNA to calculate personalized % fit for both films.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Automated Verdict: Synthesizes scores into a plain-English recommendation verdict for the viewer.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486400" cy="475488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_movi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2212276"/>
            <a:ext cx="5266944" cy="27260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53328" y="5779008"/>
            <a:ext cx="5266944" cy="347472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📷 Head-to-Head Comparison: RRR vs Vikram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PERSONALIZATION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5: Personal Taste DNA &amp; Preference Vectors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How Taste DNA Works: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Preference Vector Generation: Analyzes all user ratings (&gt;= 4.0★) to dynamically construct an n-dimensional genre &amp; language affinity vector.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Affinity Spectrum: Visually charts positive vs negative genre leanings (e.g. +0.84 Action, +0.65 Drama, -0.40 Horror).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Watch Risk Constraints: Enforces user-configured hard filters like maximum runtime limits (e.g. 150 mins) and excluded genres.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Cosine Similarity Scoring: Computes real-time cosine distance between film feature vectors and user DNA for tailored ranking.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486400" cy="475488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taste_d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2248281"/>
            <a:ext cx="5266944" cy="2654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53328" y="5779008"/>
            <a:ext cx="5266944" cy="347472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📷 Movie Taste DNA Profile for User 'Navaneeth'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COLLABORATIVE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6: Group Movie Decision Rooms (Watch Parties)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Social Decision Features: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6-Character Room Codes: Host generates a unique code (e.g. CM8942) that friends can join from their own laptops or phones.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Egalitarian Fairness Strategy: Uses a 'Consensus First / Avoid Strong Mismatch' algorithm that heavily penalizes movies where even one participant has a low score.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Shared Constraint Negotiation: Synchronizes max runtime limits and permitted language preferences across all party members.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Multi-User Voting: Room members cast votes (+1 like, -1 veto) to reach unanimous agreement without arguments.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486400" cy="475488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7_group_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2253424"/>
            <a:ext cx="5266944" cy="26437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53328" y="5779008"/>
            <a:ext cx="5266944" cy="347472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📷 Group Movie Decision Maker &amp; Room Joiner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DATABASE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7: Regional Cinema Analytics &amp;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Empirical Database KPIs: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High-Level Metrics: 25 Titles (Verified Metadata), 1,890 Total Ratings Sample, 4.66★ Global Mean, and 6 Regional Industries.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Telugu Cinema: 5 films, 320 ratings, 162 mins avg runtime, 4.60★ Bayesian score (RRR, Baahubali 2, C/o Kancharapalem).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Tamil Cinema: 4 films, 235 ratings, 168 mins avg runtime, 4.61★ Bayesian score (Vikram, Kaithi, Super Deluxe).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Malayalam Cinema: 4 films, 4.67★ Bayesian score (Drishyam, Bramayugam, Kumbalangi Nights, Manjummel Boys).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• Cross-Industry Insights: Verifies rating distribution parity across regional and global cinema.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486400" cy="475488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analytic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2273998"/>
            <a:ext cx="5266944" cy="2602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53328" y="5779008"/>
            <a:ext cx="5266944" cy="347472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📷 Regional Cinema Analytics &amp; Industry Benchmarks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NATURAL LANGUAGE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Feature 8: Smart Conversational Movie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4937760" cy="47548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Assistant Architecture: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Natural Language Intent Parser: Identifies languages (Telugu, Tamil, Malayalam, Hindi, Kannada), genres, and duration constraints from plain text.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Database-Grounded Responses: Queries MySQL directly to eliminate hallucinations; only recommends films actually present with verified ratings.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Relaxed Constraint Fallback: If a user asks for 'Malayalam mystery under 2 hours', it recommends top films (Drishyam, Bramayugam) while explaining they slightly exceed 120 mins.</a:t>
            </a:r>
          </a:p>
          <a:p>
            <a:pPr>
              <a:spcBef>
                <a:spcPts val="1000"/>
              </a:spcBef>
              <a:defRPr sz="1150">
                <a:solidFill>
                  <a:srgbClr val="F8FAFC"/>
                </a:solidFill>
              </a:defRPr>
            </a:pPr>
            <a:r>
              <a:t>• Built-in Knowledge Base: Explains Bayesian math and Taste DNA without requiring paid third-party AI API keys.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486400" cy="475488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9_smart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2307431"/>
            <a:ext cx="5266944" cy="25357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53328" y="5779008"/>
            <a:ext cx="5266944" cy="347472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📷 Smart Movie Assistant Chat Interface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MYSQL 8.0 &amp; SQLALCHEMY 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Database Architecture &amp; Normalized Relational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59E0B"/>
                </a:solidFill>
              </a:defRPr>
            </a:pPr>
            <a:r>
              <a:t>TABLE: MOVIES (PRIMARY ENTITY)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id (PK), title, release_year, language, runtime_minutes, poster_url, bayesian_score, rating_mean, rating_count, director, 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12064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59E0B"/>
                </a:solidFill>
              </a:defRPr>
            </a:pPr>
            <a:r>
              <a:t>TABLE: GENRES &amp; MOVIE_GENRES (M:N)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genres (id PK, name) | movie_genres (movie_id FK, genre_id FK) [Normalized junction table eliminating redundancy]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512064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59E0B"/>
                </a:solidFill>
              </a:defRPr>
            </a:pPr>
            <a:r>
              <a:t>TABLE: USERS (ACCOUNT MANAGEMENT)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id (PK), name, email (UNIQUE), password_hash (Bcrypt), role, runtime_limit, excluded_genres, created_at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926080"/>
            <a:ext cx="512064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59E0B"/>
                </a:solidFill>
              </a:defRPr>
            </a:pPr>
            <a:r>
              <a:t>TABLE: RATINGS (USER FEEDBACK)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id (PK), user_id (FK), movie_id (FK), rating (1.0-5.0), source, rated_at [Composite UNIQUE constraint on (user_id, movie_id)]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80560"/>
            <a:ext cx="512064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59E0B"/>
                </a:solidFill>
              </a:defRPr>
            </a:pPr>
            <a:r>
              <a:t>TABLE: WATCHLISTS &amp; USER_PREFERENCES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watchlists (user_id, movie_id, added_at) | user_preferences (user_id, preference_type, preference_key, weight)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4480560"/>
            <a:ext cx="512064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59E0B"/>
                </a:solidFill>
              </a:defRPr>
            </a:pPr>
            <a:r>
              <a:t>TABLE: GROUP_SESSIONS, MEMBERS &amp; VOTES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group_sessions (id, code UNIQUE, objective, host_user_id) | group_members | group_votes (member_id, movie_id, vote_score)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RELIABILITY &amp;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Testing, Quality Assurance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Automated Test Suites (100% Pass Rate)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✔ test_auth.py: Registration, Bcrypt password verification, duplicate email rejections, and JWT token expiry.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✔ test_bayesian.py: Bayesian rating mathematical shrinkage bounds, zero review handling, and confidence intervals.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✔ test_taste_dna.py: Cosine distance calculation, genre affinity vector normalization, and runtime constraint checking.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✔ test_group_fairness.py: Multi-member room creation, unique 6-character room codes, and egalitarian vote aggregation.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✔ test_assistant.py: Entity recognition accuracy for Telugu, Tamil, Malayalam, Hindi, Kannada, and fallback responses.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✔ test_integration.py: Complete end-to-end user journeys from registration to recommendation and comparison.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12064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6B6D4"/>
                </a:solidFill>
              </a:defRPr>
            </a:pPr>
            <a:r>
              <a:t>Performance, Security &amp; Robustness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Sub-50ms API Latency: MySQL indexing on language, release_year, and user_id ensures instant responses.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SQL Injection Prevention: Parameterized SQLAlchemy queries eliminate SQL injection vulnerabilities.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Port Conflict Resilience: Frontend Vite config set with strictPort: false and intelligent backend failover.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</a:defRPr>
            </a:pPr>
            <a:r>
              <a:t>• Beginner-Friendly Architecture: Clean separation of concerns between React SPA, Flask blueprints, and MySQL tables.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058400" cy="3200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6366F1"/>
                </a:solidFill>
              </a:defRPr>
            </a:pPr>
            <a:r>
              <a:t>FINAL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515600" cy="5943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Project Conclusion &amp; Technical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</a:defRPr>
            </a:pPr>
            <a: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6984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Key Project Achievements &amp; Deliverables: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1. Complete Full-Stack Implementation: Successfully developed using React 19 (SPA frontend), Python Flask (REST API), and MySQL 8.0 (Relational database).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2. Authentic Indian &amp; Global Cinema: Curated 25 benchmark films with 1,890 verified rating records across 6 major languages.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3. Mathematical Rigor: Eliminated fake rating hype using empirical Bayesian Evidence Shrinkage and 95% Confidence Bounds.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4. Personal &amp; Social Decision Support: Taste DNA profile vectors for individual users, plus Egalitarian Consensus Rooms for watch parties.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5. Conversational Search: Natural language assistant grounded in MySQL without expensive third-party API dependencies.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6. Industry-Standard Engineering: Modular blueprint architecture, Bcrypt encryption, JWT stateless auth, and 100% passing automated test suites.</a:t>
            </a:r>
          </a:p>
          <a:p>
            <a:pPr algn="ctr">
              <a:spcBef>
                <a:spcPts val="1600"/>
              </a:spcBef>
              <a:defRPr sz="1600" b="1">
                <a:solidFill>
                  <a:srgbClr val="06B6D4"/>
                </a:solidFill>
              </a:defRPr>
            </a:pPr>
            <a:r>
              <a:t>🎬 Thank You! Questions &amp; Live Demonstration.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